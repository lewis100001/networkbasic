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0" autoAdjust="0"/>
    <p:restoredTop sz="94660"/>
  </p:normalViewPr>
  <p:slideViewPr>
    <p:cSldViewPr snapToGrid="0">
      <p:cViewPr varScale="1">
        <p:scale>
          <a:sx n="83" d="100"/>
          <a:sy n="83" d="100"/>
        </p:scale>
        <p:origin x="158" y="-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49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48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76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75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911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20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799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98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05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22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07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84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9B6D9-1BF7-49F4-A9DD-33228C0E8B40}" type="datetimeFigureOut">
              <a:rPr lang="en-GB" smtClean="0"/>
              <a:t>15/12/2020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D21DE-994C-409A-ACA5-2AFE1C31A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17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tmp"/><Relationship Id="rId4" Type="http://schemas.openxmlformats.org/officeDocument/2006/relationships/image" Target="../media/image15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Skills Integration Challenge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Packet Tracer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95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sco Packet Tracer - C:\Users\smithm\Downloads\17.8.2-packet-tracer---skills-integration-challenge (1).pka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81" b="40915"/>
          <a:stretch/>
        </p:blipFill>
        <p:spPr>
          <a:xfrm>
            <a:off x="387724" y="0"/>
            <a:ext cx="9473452" cy="66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6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Subnetting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Supplied 192.168.0.0/24</a:t>
            </a:r>
          </a:p>
          <a:p>
            <a:r>
              <a:rPr lang="en-GB" dirty="0" smtClean="0"/>
              <a:t>/24 leaves 8 bits = 256 addresses or 254 hosts</a:t>
            </a:r>
          </a:p>
          <a:p>
            <a:r>
              <a:rPr lang="en-GB" dirty="0" smtClean="0"/>
              <a:t>/25 leaves 7 bits = 128 addresses or 126 hosts</a:t>
            </a:r>
          </a:p>
          <a:p>
            <a:r>
              <a:rPr lang="en-GB" dirty="0" smtClean="0"/>
              <a:t>/26 leaves 6 bits = 64 addresses or 62 hosts</a:t>
            </a:r>
          </a:p>
          <a:p>
            <a:r>
              <a:rPr lang="en-GB" dirty="0" smtClean="0"/>
              <a:t>/27 leaves 5 bits = 32 addresses or 30 hosts</a:t>
            </a:r>
          </a:p>
          <a:p>
            <a:r>
              <a:rPr lang="en-GB" dirty="0" smtClean="0"/>
              <a:t>/28 leaves 4 bits = 16 addresses or 14 hosts</a:t>
            </a:r>
          </a:p>
          <a:p>
            <a:r>
              <a:rPr lang="en-GB" dirty="0" smtClean="0"/>
              <a:t>/29 leaves 3 bits = 8 addresses or 6 hosts</a:t>
            </a:r>
          </a:p>
          <a:p>
            <a:r>
              <a:rPr lang="en-GB" dirty="0" smtClean="0"/>
              <a:t>/30 leaves 2 bits = 4 addresses or 2 hosts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188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Subnetting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Start, 192.168.0.0/24</a:t>
            </a:r>
          </a:p>
          <a:p>
            <a:r>
              <a:rPr lang="en-GB" dirty="0" smtClean="0"/>
              <a:t>Largest Subnet : Staff 100 hosts.</a:t>
            </a:r>
          </a:p>
          <a:p>
            <a:r>
              <a:rPr lang="en-GB" dirty="0" smtClean="0"/>
              <a:t>/25 leaves 7 bits = </a:t>
            </a:r>
            <a:r>
              <a:rPr lang="en-GB" dirty="0" smtClean="0">
                <a:solidFill>
                  <a:srgbClr val="FF0000"/>
                </a:solidFill>
              </a:rPr>
              <a:t>128</a:t>
            </a:r>
            <a:r>
              <a:rPr lang="en-GB" dirty="0" smtClean="0"/>
              <a:t> addresses or 126 hosts</a:t>
            </a:r>
          </a:p>
          <a:p>
            <a:r>
              <a:rPr lang="en-GB" dirty="0" smtClean="0"/>
              <a:t>Subnet 192.168.0.0/24 into two /25 subnets</a:t>
            </a:r>
          </a:p>
          <a:p>
            <a:r>
              <a:rPr lang="en-GB" dirty="0" smtClean="0"/>
              <a:t>192.168.0.0/25</a:t>
            </a:r>
          </a:p>
          <a:p>
            <a:r>
              <a:rPr lang="en-GB" dirty="0" smtClean="0"/>
              <a:t>192.168.0.128/25</a:t>
            </a:r>
          </a:p>
          <a:p>
            <a:r>
              <a:rPr lang="en-GB" dirty="0" smtClean="0"/>
              <a:t>Assign 192.168.0.0/25 subnet to Staff 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116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Subnetting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Remaining, 192.168.0.128/25</a:t>
            </a:r>
          </a:p>
          <a:p>
            <a:r>
              <a:rPr lang="en-GB" dirty="0" smtClean="0"/>
              <a:t>Next Largest Subnet : Sales 50 hosts.</a:t>
            </a:r>
          </a:p>
          <a:p>
            <a:r>
              <a:rPr lang="en-GB" dirty="0" smtClean="0"/>
              <a:t>/26 leaves 6 bits = </a:t>
            </a:r>
            <a:r>
              <a:rPr lang="en-GB" dirty="0" smtClean="0">
                <a:solidFill>
                  <a:srgbClr val="FF0000"/>
                </a:solidFill>
              </a:rPr>
              <a:t>64</a:t>
            </a:r>
            <a:r>
              <a:rPr lang="en-GB" dirty="0" smtClean="0"/>
              <a:t> addresses or 62 hosts</a:t>
            </a:r>
          </a:p>
          <a:p>
            <a:r>
              <a:rPr lang="en-GB" dirty="0" smtClean="0"/>
              <a:t>Subnet 192.168.0.128/25 into two /26 subnets</a:t>
            </a:r>
          </a:p>
          <a:p>
            <a:r>
              <a:rPr lang="en-GB" dirty="0" smtClean="0"/>
              <a:t>192.168.0.128/26</a:t>
            </a:r>
          </a:p>
          <a:p>
            <a:r>
              <a:rPr lang="en-GB" dirty="0" smtClean="0"/>
              <a:t>192.168.0.192/26</a:t>
            </a:r>
          </a:p>
          <a:p>
            <a:r>
              <a:rPr lang="en-GB" dirty="0" smtClean="0"/>
              <a:t>Assign 192.168.0.128/26 subnet to Sales 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801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Subnetting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Remaining, 192.168.0.192/26</a:t>
            </a:r>
          </a:p>
          <a:p>
            <a:r>
              <a:rPr lang="en-GB" dirty="0" smtClean="0"/>
              <a:t>Next Largest Subnet : IT 25 hosts.</a:t>
            </a:r>
          </a:p>
          <a:p>
            <a:r>
              <a:rPr lang="en-GB" dirty="0" smtClean="0"/>
              <a:t>/27 leaves 5 bits = </a:t>
            </a:r>
            <a:r>
              <a:rPr lang="en-GB" dirty="0" smtClean="0">
                <a:solidFill>
                  <a:srgbClr val="FF0000"/>
                </a:solidFill>
              </a:rPr>
              <a:t>32</a:t>
            </a:r>
            <a:r>
              <a:rPr lang="en-GB" dirty="0" smtClean="0"/>
              <a:t> addresses or 30 hosts</a:t>
            </a:r>
          </a:p>
          <a:p>
            <a:r>
              <a:rPr lang="en-GB" dirty="0" smtClean="0"/>
              <a:t>Subnet 192.168.0.192/26 into two /27 subnets</a:t>
            </a:r>
          </a:p>
          <a:p>
            <a:r>
              <a:rPr lang="en-GB" dirty="0" smtClean="0"/>
              <a:t>192.168.0.192/27</a:t>
            </a:r>
          </a:p>
          <a:p>
            <a:r>
              <a:rPr lang="en-GB" dirty="0" smtClean="0"/>
              <a:t>192.168.0.224/27</a:t>
            </a:r>
          </a:p>
          <a:p>
            <a:r>
              <a:rPr lang="en-GB" dirty="0" smtClean="0"/>
              <a:t>Assign 192.168.0.192/27 subnet to IT LAN</a:t>
            </a:r>
          </a:p>
          <a:p>
            <a:r>
              <a:rPr lang="en-GB" dirty="0" smtClean="0"/>
              <a:t>Assign 192.168.0.224/27 subnet to Guest 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04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Basic Planning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Default-Gateway 1</a:t>
            </a:r>
            <a:r>
              <a:rPr lang="en-GB" baseline="30000" dirty="0" smtClean="0"/>
              <a:t>st</a:t>
            </a:r>
            <a:r>
              <a:rPr lang="en-GB" dirty="0" smtClean="0"/>
              <a:t> host address in network range</a:t>
            </a:r>
          </a:p>
          <a:p>
            <a:r>
              <a:rPr lang="en-GB" dirty="0" smtClean="0"/>
              <a:t>Computer 2</a:t>
            </a:r>
            <a:r>
              <a:rPr lang="en-GB" baseline="30000" dirty="0" smtClean="0"/>
              <a:t>nd</a:t>
            </a:r>
            <a:r>
              <a:rPr lang="en-GB" dirty="0" smtClean="0"/>
              <a:t> host address in network range</a:t>
            </a:r>
          </a:p>
          <a:p>
            <a:r>
              <a:rPr lang="en-GB" dirty="0" smtClean="0"/>
              <a:t>Switch SVI address last host address in network range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664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Staff 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Network Address: 192.168.0.0/25</a:t>
            </a:r>
          </a:p>
          <a:p>
            <a:r>
              <a:rPr lang="en-GB" dirty="0" smtClean="0"/>
              <a:t>Broadcast Address: 192.168.0.127/25</a:t>
            </a:r>
          </a:p>
          <a:p>
            <a:r>
              <a:rPr lang="en-GB" dirty="0" smtClean="0"/>
              <a:t>1</a:t>
            </a:r>
            <a:r>
              <a:rPr lang="en-GB" baseline="30000" dirty="0" smtClean="0"/>
              <a:t>st</a:t>
            </a:r>
            <a:r>
              <a:rPr lang="en-GB" dirty="0" smtClean="0"/>
              <a:t> host: 192.168.0.1/25</a:t>
            </a:r>
          </a:p>
          <a:p>
            <a:r>
              <a:rPr lang="en-GB" dirty="0" smtClean="0"/>
              <a:t>2</a:t>
            </a:r>
            <a:r>
              <a:rPr lang="en-GB" baseline="30000" dirty="0" smtClean="0"/>
              <a:t>nd</a:t>
            </a:r>
            <a:r>
              <a:rPr lang="en-GB" dirty="0" smtClean="0"/>
              <a:t> host: 192.168.0.2/25</a:t>
            </a:r>
          </a:p>
          <a:p>
            <a:r>
              <a:rPr lang="en-GB" dirty="0" smtClean="0"/>
              <a:t>Last host: 192.168.0.126/25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Sales 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Network Address: 192.168.0.128/26</a:t>
            </a:r>
          </a:p>
          <a:p>
            <a:r>
              <a:rPr lang="en-GB" dirty="0" smtClean="0"/>
              <a:t>Broadcast Address: 192.168.0.191/26</a:t>
            </a:r>
          </a:p>
          <a:p>
            <a:r>
              <a:rPr lang="en-GB" dirty="0" smtClean="0"/>
              <a:t>1</a:t>
            </a:r>
            <a:r>
              <a:rPr lang="en-GB" baseline="30000" dirty="0" smtClean="0"/>
              <a:t>st</a:t>
            </a:r>
            <a:r>
              <a:rPr lang="en-GB" dirty="0" smtClean="0"/>
              <a:t> host: 192.168.0.129/26</a:t>
            </a:r>
          </a:p>
          <a:p>
            <a:r>
              <a:rPr lang="en-GB" dirty="0" smtClean="0"/>
              <a:t>2</a:t>
            </a:r>
            <a:r>
              <a:rPr lang="en-GB" baseline="30000" dirty="0" smtClean="0"/>
              <a:t>nd</a:t>
            </a:r>
            <a:r>
              <a:rPr lang="en-GB" dirty="0" smtClean="0"/>
              <a:t> host: 192.168.0.130/26</a:t>
            </a:r>
          </a:p>
          <a:p>
            <a:r>
              <a:rPr lang="en-GB" dirty="0" smtClean="0"/>
              <a:t>Last host: 192.168.0.190/26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888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IT 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Network Address: 192.168.0.192/27</a:t>
            </a:r>
          </a:p>
          <a:p>
            <a:r>
              <a:rPr lang="en-GB" dirty="0" smtClean="0"/>
              <a:t>Broadcast Address: 192.168.0.223/27</a:t>
            </a:r>
          </a:p>
          <a:p>
            <a:r>
              <a:rPr lang="en-GB" dirty="0" smtClean="0"/>
              <a:t>1</a:t>
            </a:r>
            <a:r>
              <a:rPr lang="en-GB" baseline="30000" dirty="0" smtClean="0"/>
              <a:t>st</a:t>
            </a:r>
            <a:r>
              <a:rPr lang="en-GB" dirty="0" smtClean="0"/>
              <a:t> host: </a:t>
            </a:r>
            <a:r>
              <a:rPr lang="en-GB" dirty="0" smtClean="0"/>
              <a:t>192.168.0.193/27</a:t>
            </a:r>
            <a:endParaRPr lang="en-GB" dirty="0" smtClean="0"/>
          </a:p>
          <a:p>
            <a:r>
              <a:rPr lang="en-GB" dirty="0" smtClean="0"/>
              <a:t>2</a:t>
            </a:r>
            <a:r>
              <a:rPr lang="en-GB" baseline="30000" dirty="0" smtClean="0"/>
              <a:t>nd</a:t>
            </a:r>
            <a:r>
              <a:rPr lang="en-GB" dirty="0" smtClean="0"/>
              <a:t> host: </a:t>
            </a:r>
            <a:r>
              <a:rPr lang="en-GB" dirty="0" smtClean="0"/>
              <a:t>192.168.0.194/27</a:t>
            </a:r>
            <a:endParaRPr lang="en-GB" dirty="0" smtClean="0"/>
          </a:p>
          <a:p>
            <a:r>
              <a:rPr lang="en-GB" dirty="0" smtClean="0"/>
              <a:t>Last host: </a:t>
            </a:r>
            <a:r>
              <a:rPr lang="en-GB" dirty="0" smtClean="0"/>
              <a:t>192.168.0.222/27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93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Staff 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R1	G0/0 	192.168.0.1  255.255.255.128</a:t>
            </a:r>
          </a:p>
          <a:p>
            <a:r>
              <a:rPr lang="en-GB" dirty="0" smtClean="0"/>
              <a:t>S1 		192.168.0.126  255.255.255.128</a:t>
            </a:r>
          </a:p>
          <a:p>
            <a:r>
              <a:rPr lang="en-GB" dirty="0" smtClean="0"/>
              <a:t>Default-Gateway 	192.168.0.1</a:t>
            </a:r>
          </a:p>
          <a:p>
            <a:r>
              <a:rPr lang="en-GB" dirty="0" smtClean="0"/>
              <a:t>Computer  192.168.0.2  255.255.255.128</a:t>
            </a:r>
          </a:p>
        </p:txBody>
      </p:sp>
    </p:spTree>
    <p:extLst>
      <p:ext uri="{BB962C8B-B14F-4D97-AF65-F5344CB8AC3E}">
        <p14:creationId xmlns:p14="http://schemas.microsoft.com/office/powerpoint/2010/main" val="247307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Sales 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R1	G0/1 	192.168.0.129  255.255.255.192</a:t>
            </a:r>
          </a:p>
          <a:p>
            <a:r>
              <a:rPr lang="en-GB" dirty="0" smtClean="0"/>
              <a:t>S2 		192.168.0.190  255.255.255.192</a:t>
            </a:r>
          </a:p>
          <a:p>
            <a:r>
              <a:rPr lang="en-GB" dirty="0" smtClean="0"/>
              <a:t>Default-Gateway  192.168.0.129</a:t>
            </a:r>
          </a:p>
          <a:p>
            <a:r>
              <a:rPr lang="en-GB" dirty="0" smtClean="0"/>
              <a:t>Computer 	192.168.0.130  255.255.255.192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558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IT LAN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R1	G0/2 	192.168.0.193  255.255.255.224</a:t>
            </a:r>
          </a:p>
          <a:p>
            <a:r>
              <a:rPr lang="en-GB" dirty="0" smtClean="0"/>
              <a:t>S3 		192.168.0.222 	255.255.255.224</a:t>
            </a:r>
          </a:p>
          <a:p>
            <a:r>
              <a:rPr lang="en-GB" dirty="0" smtClean="0"/>
              <a:t>Default-Gateway 192.168.0.193</a:t>
            </a:r>
          </a:p>
          <a:p>
            <a:r>
              <a:rPr lang="en-GB" dirty="0" smtClean="0"/>
              <a:t>Computer 	192.168.0.194  255.255.255.224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18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sco Packet Tracer - C:\Users\smithm\Downloads\17.8.2-packet-tracer---skills-integration-challenge (1).pka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81" b="40915"/>
          <a:stretch/>
        </p:blipFill>
        <p:spPr>
          <a:xfrm>
            <a:off x="387724" y="0"/>
            <a:ext cx="9473452" cy="66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0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80" y="1085647"/>
            <a:ext cx="4740051" cy="4686706"/>
          </a:xfrm>
          <a:prstGeom prst="rect">
            <a:avLst/>
          </a:prstGeom>
        </p:spPr>
      </p:pic>
      <p:pic>
        <p:nvPicPr>
          <p:cNvPr id="4" name="Picture 3" descr="Sta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609" y="1148400"/>
            <a:ext cx="4740051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3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l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69" y="915318"/>
            <a:ext cx="4740051" cy="4686706"/>
          </a:xfrm>
          <a:prstGeom prst="rect">
            <a:avLst/>
          </a:prstGeom>
        </p:spPr>
      </p:pic>
      <p:pic>
        <p:nvPicPr>
          <p:cNvPr id="3" name="Picture 2" descr="I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597" y="915318"/>
            <a:ext cx="4740051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3" y="592588"/>
            <a:ext cx="4740051" cy="4686706"/>
          </a:xfrm>
          <a:prstGeom prst="rect">
            <a:avLst/>
          </a:prstGeom>
        </p:spPr>
      </p:pic>
      <p:pic>
        <p:nvPicPr>
          <p:cNvPr id="3" name="Picture 2" descr="R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162" y="592588"/>
            <a:ext cx="4740051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68" y="431223"/>
            <a:ext cx="4740051" cy="4686706"/>
          </a:xfrm>
          <a:prstGeom prst="rect">
            <a:avLst/>
          </a:prstGeom>
        </p:spPr>
      </p:pic>
      <p:pic>
        <p:nvPicPr>
          <p:cNvPr id="3" name="Picture 2" descr="R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915" y="511906"/>
            <a:ext cx="4740051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7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800"/>
            <a:ext cx="4740051" cy="4686706"/>
          </a:xfrm>
          <a:prstGeom prst="rect">
            <a:avLst/>
          </a:prstGeom>
        </p:spPr>
      </p:pic>
      <p:pic>
        <p:nvPicPr>
          <p:cNvPr id="3" name="Picture 2" descr="S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504" y="538800"/>
            <a:ext cx="4740051" cy="4686706"/>
          </a:xfrm>
          <a:prstGeom prst="rect">
            <a:avLst/>
          </a:prstGeom>
        </p:spPr>
      </p:pic>
      <p:pic>
        <p:nvPicPr>
          <p:cNvPr id="4" name="Picture 3" descr="S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949" y="538800"/>
            <a:ext cx="4740051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7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sco Packet Tracer - C:\Users\smithm\Downloads\17.8.2-packet-tracer---skills-integration-challenge (1).pka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42" b="48105"/>
          <a:stretch/>
        </p:blipFill>
        <p:spPr>
          <a:xfrm>
            <a:off x="387724" y="0"/>
            <a:ext cx="5600700" cy="3558988"/>
          </a:xfrm>
          <a:prstGeom prst="rect">
            <a:avLst/>
          </a:prstGeom>
        </p:spPr>
      </p:pic>
      <p:pic>
        <p:nvPicPr>
          <p:cNvPr id="3" name="Picture 2" descr="Sta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189" y="90565"/>
            <a:ext cx="5631668" cy="4686706"/>
          </a:xfrm>
          <a:prstGeom prst="rect">
            <a:avLst/>
          </a:prstGeom>
        </p:spPr>
      </p:pic>
      <p:pic>
        <p:nvPicPr>
          <p:cNvPr id="4" name="Picture 3" descr="Sta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21" y="3299929"/>
            <a:ext cx="5631668" cy="4686706"/>
          </a:xfrm>
          <a:prstGeom prst="rect">
            <a:avLst/>
          </a:prstGeom>
        </p:spPr>
      </p:pic>
      <p:pic>
        <p:nvPicPr>
          <p:cNvPr id="5" name="Picture 4" descr="Sale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011" y="3398541"/>
            <a:ext cx="4740051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3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80"/>
      </a:dk1>
      <a:lt1>
        <a:sysClr val="window" lastClr="F0F0F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304</Words>
  <Application>Microsoft Office PowerPoint</Application>
  <PresentationFormat>Widescreen</PresentationFormat>
  <Paragraphs>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Skills Integration Challenge</vt:lpstr>
      <vt:lpstr>PowerPoint Presentation</vt:lpstr>
      <vt:lpstr>Subnetting</vt:lpstr>
      <vt:lpstr>Subnetting</vt:lpstr>
      <vt:lpstr>Subnetting</vt:lpstr>
      <vt:lpstr>Subnetting</vt:lpstr>
      <vt:lpstr>Basic Planning</vt:lpstr>
      <vt:lpstr>Staff LAN</vt:lpstr>
      <vt:lpstr>Sales LAN</vt:lpstr>
      <vt:lpstr>IT LAN</vt:lpstr>
      <vt:lpstr>Staff LAN</vt:lpstr>
      <vt:lpstr>Sales LAN</vt:lpstr>
      <vt:lpstr>IT 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Southampton Solent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Integration Challenge</dc:title>
  <dc:creator>Michael Smith</dc:creator>
  <cp:lastModifiedBy>Michael Smith</cp:lastModifiedBy>
  <cp:revision>14</cp:revision>
  <dcterms:created xsi:type="dcterms:W3CDTF">2020-12-09T10:34:48Z</dcterms:created>
  <dcterms:modified xsi:type="dcterms:W3CDTF">2020-12-15T15:23:35Z</dcterms:modified>
</cp:coreProperties>
</file>